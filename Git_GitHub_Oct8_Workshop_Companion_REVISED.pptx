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78" r:id="rId8"/>
    <p:sldId id="279" r:id="rId9"/>
    <p:sldId id="280" r:id="rId10"/>
    <p:sldId id="281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5EE5C-5815-4858-A907-CF2AB870EBF0}" type="datetimeFigureOut"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2BD72-5C56-4B93-B466-9D8FBE28AD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6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Welcome back. Last time we taught Git how to remember our work. Today we make that record travel. Remind learners that questions and mistakes are evidence, not embarrassment.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the two protected 7-minute breaks at 1:53 and 2:53. If behind, cut optional material, not collaboration, conflict reasoning, verification, or explain-back.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before typing: Before I touch a repository, what do I want to know? Accept spoken or Teams answers. This is the learning rubric in compact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Think aloud: pwd tells me where my shell is. rev-parse tells me where Git thinks the repository begins. Helper cue: What does Git think the repository root 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spatial gestures. Local and remote should feel like places. Git records history; GitHub hosts and connects repositories and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edit yet. Learners investigate. Common mistakes: clone from unknown directory, literal placeholder, cloning inside another repo. Catch-up: example cloned + git status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Learners only need remote -v here. Show add/set-url/rename/remove for recognition if useful, not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Pair Owner and Collaborator. Before editing, establish whose repo, role, remote, and branch. Catch-up before break: BUILD repo available and role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Protect the break. Helpers report patterns: location, remote, access, vocabulary. Identify who needs catch-up at 2:00.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Common mistakes: git add &lt;file&gt;; split filename; output pasted as input. Teams: post one state transition in plain language. Catch-up: one commit visible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Reduce instructor prompting. If learner asks 'what command next?', ask what state they are trying to change before giving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Good. Do not fix it yet. What did we expect? What did we observe? What explanation fits the evidence?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Common mistake: edit conflict but forget git add. Ask what tells Git the human decision is complete. Verify status/log and partner pull.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erase evidence before learners understand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one authentic safe mistake. OUTPUT ≠ INPUT is another option. Say: Git is being annoyingly literal again. Which, for version control, is actually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Transfer from TRY to BUILD: learner identifies one tracked, ignored, or investigate item in their own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Teams: What does your repo need so another person can understand it six months from now? Model review: What were you trying to accomplish? What evidence would help us decide?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RStudio is available, switch live to its Git pane here. Before clicking: what repo, what staged, what effect, where recorded, how verify. Optional Pages only if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What can you now explain that you could only follow at the beginning? Then: What question do you still have? Helpers surface one recurring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Closing: Git can record change. It cannot decide whether the change is meaningful, accurate, ethical, or appropriate. That remains human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learners to the repository GIT_CHEAT_SHEET.md for the full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operationalizes PEDAGOGY_RUBRIC.md. Use it as your own live reflection: are we transferring responsibility, or only repeating keystrokes?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Git &amp; GitHub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From Local Git to Shared, Inspectable Work</a:t>
            </a:r>
          </a:p>
          <a:p>
            <a:pPr>
              <a:defRPr sz="2000">
                <a:solidFill>
                  <a:srgbClr val="DCE1E6"/>
                </a:solidFill>
              </a:defRPr>
            </a:pPr>
            <a:r>
              <a:t>Oct. 8 • 1:00–4:00 PM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886200"/>
            <a:ext cx="2468880" cy="10058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DEMO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watch + predict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3886200"/>
            <a:ext cx="2468880" cy="10058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2D8B8B"/>
                </a:solidFill>
              </a:defRPr>
            </a:pPr>
            <a:r>
              <a:t>TRY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safe local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3886200"/>
            <a:ext cx="2468880" cy="10058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704A96"/>
                </a:solidFill>
              </a:defRPr>
            </a:pPr>
            <a:r>
              <a:t>BUILD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your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3886200"/>
            <a:ext cx="2468880" cy="10058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C95C56"/>
                </a:solidFill>
              </a:defRPr>
            </a:pPr>
            <a:r>
              <a:t>TALK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aloud or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Today’s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87078"/>
                </a:solidFill>
              </a:defRPr>
            </a:pPr>
            <a:r>
              <a:t>Beginning → break → middle → break →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74720" cy="347472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18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182D45"/>
                </a:solidFill>
              </a:defRPr>
            </a:pPr>
            <a:r>
              <a:t>1:00–1:53 • BEGINNING</a:t>
            </a:r>
          </a:p>
          <a:p>
            <a:pPr>
              <a:spcBef>
                <a:spcPts val="600"/>
              </a:spcBef>
              <a:defRPr sz="1700">
                <a:solidFill>
                  <a:srgbClr val="212529"/>
                </a:solidFill>
              </a:defRPr>
            </a:pPr>
            <a:r>
              <a:t>WHERE AM I?</a:t>
            </a:r>
            <a:br/>
            <a:r>
              <a:t>WHERE CAN THE WORK GO?</a:t>
            </a:r>
            <a:br/>
            <a:br/>
            <a:r>
              <a:t>Git vs GitHub</a:t>
            </a:r>
            <a:br/>
            <a:r>
              <a:t>Clone + inspect</a:t>
            </a:r>
            <a:br/>
            <a:r>
              <a:t>Remotes + origin</a:t>
            </a:r>
            <a:br/>
            <a:r>
              <a:t>TRY →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508760"/>
            <a:ext cx="3474720" cy="347472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E17C34"/>
                </a:solidFill>
              </a:defRPr>
            </a:pPr>
            <a:r>
              <a:t>2:00–2:53 • MIDDLE</a:t>
            </a:r>
          </a:p>
          <a:p>
            <a:pPr>
              <a:spcBef>
                <a:spcPts val="600"/>
              </a:spcBef>
              <a:defRPr sz="1700">
                <a:solidFill>
                  <a:srgbClr val="212529"/>
                </a:solidFill>
              </a:defRPr>
            </a:pPr>
            <a:r>
              <a:t>HOW DOES WORK MOVE?</a:t>
            </a:r>
            <a:br/>
            <a:br/>
            <a:r>
              <a:t>Collaborate</a:t>
            </a:r>
            <a:br/>
            <a:r>
              <a:t>Repeat with less help</a:t>
            </a:r>
            <a:br/>
            <a:r>
              <a:t>Rejected push</a:t>
            </a:r>
            <a:br/>
            <a:r>
              <a:t>Conflict</a:t>
            </a:r>
            <a:br/>
            <a:r>
              <a:t>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08760"/>
            <a:ext cx="3474720" cy="347472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2D8B8B"/>
                </a:solidFill>
              </a:defRPr>
            </a:pPr>
            <a:r>
              <a:t>3:00–4:00 • END</a:t>
            </a:r>
          </a:p>
          <a:p>
            <a:pPr>
              <a:spcBef>
                <a:spcPts val="600"/>
              </a:spcBef>
              <a:defRPr sz="1700">
                <a:solidFill>
                  <a:srgbClr val="212529"/>
                </a:solidFill>
              </a:defRPr>
            </a:pPr>
            <a:r>
              <a:t>HOW DO WE LEAVE GOOD WORK?</a:t>
            </a:r>
            <a:br/>
            <a:br/>
            <a:r>
              <a:t>History + recovery</a:t>
            </a:r>
            <a:br/>
            <a:r>
              <a:t>Track/ignore</a:t>
            </a:r>
            <a:br/>
            <a:r>
              <a:t>README + provenance</a:t>
            </a:r>
            <a:br/>
            <a:r>
              <a:t>Transfer + 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Before acting, ask five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196596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18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182D45"/>
                </a:solidFill>
              </a:defRPr>
            </a:pPr>
            <a:r>
              <a:t>WHERE AM 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874519"/>
            <a:ext cx="196596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E17C34"/>
                </a:solidFill>
              </a:defRPr>
            </a:pPr>
            <a:r>
              <a:t>WHAT CHANGED?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874519"/>
            <a:ext cx="196596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2D8B8B"/>
                </a:solidFill>
              </a:defRPr>
            </a:pPr>
            <a:r>
              <a:t>WHAT IS THE EVIDENCE?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0" y="1874519"/>
            <a:ext cx="196596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48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48845C"/>
                </a:solidFill>
              </a:defRPr>
            </a:pPr>
            <a:r>
              <a:t>WHAT SHOULD WE DO NEXT?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874519"/>
            <a:ext cx="196596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704A96"/>
                </a:solidFill>
              </a:defRPr>
            </a:pPr>
            <a:r>
              <a:t>DID IT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4340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2D45"/>
                </a:solidFill>
              </a:defRPr>
            </a:pPr>
            <a:r>
              <a:t>The commands may change. The reasoning should become familiar.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RETURN AFTER A REBOOT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EF8"/>
                </a:solidFill>
              </a:defRPr>
            </a:pPr>
            <a:r>
              <a:t>LOCAL: C:\Users\Carpentries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GIT BASH: /c/Users/Carpentries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SHARED: github.com/RebekahZipp/GitHubCarpentries-Examples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endParaRPr/>
          </a:p>
          <a:p>
            <a:pPr>
              <a:defRPr sz="2200">
                <a:solidFill>
                  <a:srgbClr val="E2EEF8"/>
                </a:solidFill>
              </a:defRPr>
            </a:pPr>
            <a:r>
              <a:t>A reboot does not mean clone again.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THREE DIFFERENT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EF8"/>
                </a:solidFill>
              </a:defRPr>
            </a:pPr>
            <a:r>
              <a:t>cd FOLDER = enter an existing local folder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endParaRPr/>
          </a:p>
          <a:p>
            <a:pPr>
              <a:defRPr sz="2200">
                <a:solidFill>
                  <a:srgbClr val="E2EEF8"/>
                </a:solidFill>
              </a:defRPr>
            </a:pPr>
            <a:r>
              <a:t>git clone HTTPS_URL = get a missing repository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endParaRPr/>
          </a:p>
          <a:p>
            <a:pPr>
              <a:defRPr sz="2200">
                <a:solidFill>
                  <a:srgbClr val="E2EEF8"/>
                </a:solidFill>
              </a:defRPr>
            </a:pPr>
            <a:r>
              <a:t>git remote -v = read its saved GitHub address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endParaRPr/>
          </a:p>
          <a:p>
            <a:pPr>
              <a:defRPr sz="2200">
                <a:solidFill>
                  <a:srgbClr val="E2EEF8"/>
                </a:solidFill>
              </a:defRPr>
            </a:pPr>
            <a:r>
              <a:t>Never type: cd https://github.com/...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FIND IT. CHECK IT. THEN CONTINUE.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EF8"/>
                </a:solidFill>
              </a:defRPr>
            </a:pPr>
            <a:r>
              <a:t>cd /c/Users/Carpentries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pwd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ls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endParaRPr/>
          </a:p>
          <a:p>
            <a:pPr>
              <a:defRPr sz="2200">
                <a:solidFill>
                  <a:srgbClr val="E2EEF8"/>
                </a:solidFill>
              </a:defRPr>
            </a:pPr>
            <a:r>
              <a:t>IF THE REPO EXISTS: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cd GitHubCarpentries-Examples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git status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git remote -v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endParaRPr/>
          </a:p>
          <a:p>
            <a:pPr>
              <a:defRPr sz="2200">
                <a:solidFill>
                  <a:srgbClr val="E2EEF8"/>
                </a:solidFill>
              </a:defRPr>
            </a:pPr>
            <a:r>
              <a:t>IF ABSENT: git clone [GitHub HTTPS URL]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WHEN THE RESULT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EF8"/>
                </a:solidFill>
              </a:defRPr>
            </a:pPr>
            <a:r>
              <a:t>No such file or directory?  pwd → ls → check path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not a git repository?  enter the repo folder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modified file?  inspect, do not discard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r>
              <a:t>Already up to date?  no newer work to integrate</a:t>
            </a:r>
          </a:p>
          <a:p>
            <a:pPr>
              <a:defRPr sz="2200">
                <a:solidFill>
                  <a:srgbClr val="E2EEF8"/>
                </a:solidFill>
              </a:defRPr>
            </a:pPr>
            <a:endParaRPr/>
          </a:p>
          <a:p>
            <a:pPr>
              <a:defRPr sz="2200">
                <a:solidFill>
                  <a:srgbClr val="E2EEF8"/>
                </a:solidFill>
              </a:defRPr>
            </a:pPr>
            <a:r>
              <a:t>ASK: What evidence tells us the next safe move?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ORIENT • Where am 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5577840" cy="329184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pwd</a:t>
            </a:r>
            <a:br/>
            <a:r>
              <a:t>git rev-parse --show-toplevel</a:t>
            </a:r>
            <a:br/>
            <a:r>
              <a:t>git status</a:t>
            </a:r>
            <a:br/>
            <a:r>
              <a:t>git log --oneline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508760"/>
            <a:ext cx="457200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C95C56"/>
                </a:solidFill>
              </a:defRPr>
            </a:pPr>
            <a:r>
              <a:t>ASK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What does pwd tell us that Git cannot?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2834640"/>
            <a:ext cx="457200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COMMON MISTAKE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Git command typed in the R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4160520"/>
            <a:ext cx="457200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48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48845C"/>
                </a:solidFill>
              </a:defRPr>
            </a:pPr>
            <a:r>
              <a:t>CATCH-UP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Know your terminal, directory, repo, and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Git is not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017520" cy="20116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18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182D45"/>
                </a:solidFill>
              </a:defRPr>
            </a:pPr>
            <a:r>
              <a:t>MY COMPUTER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local repository</a:t>
            </a:r>
            <a:br/>
            <a:r>
              <a:t>my commits</a:t>
            </a:r>
            <a:br/>
            <a:r>
              <a:t>my working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017520" cy="20116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2D8B8B"/>
                </a:solidFill>
              </a:defRPr>
            </a:pPr>
            <a:r>
              <a:t>GITHUB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remote repository</a:t>
            </a:r>
            <a:br/>
            <a:r>
              <a:t>sharing + review</a:t>
            </a:r>
            <a:br/>
            <a:r>
              <a:t>collaboration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3017520" cy="20116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704A96"/>
                </a:solidFill>
              </a:defRPr>
            </a:pPr>
            <a:r>
              <a:t>SOMEONE ELSE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another local clone</a:t>
            </a:r>
            <a:br/>
            <a:r>
              <a:t>another working copy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2834640"/>
            <a:ext cx="822961" cy="0"/>
          </a:xfrm>
          <a:prstGeom prst="line">
            <a:avLst/>
          </a:prstGeom>
          <a:ln w="25400">
            <a:solidFill>
              <a:srgbClr val="E17C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89520" y="2834640"/>
            <a:ext cx="822960" cy="0"/>
          </a:xfrm>
          <a:prstGeom prst="line">
            <a:avLst/>
          </a:prstGeom>
          <a:ln w="25400">
            <a:solidFill>
              <a:srgbClr val="E17C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4434840"/>
            <a:ext cx="6309360" cy="9144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C95C56"/>
                </a:solidFill>
              </a:defRPr>
            </a:pPr>
            <a:r>
              <a:t>PROMPT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If GitHub disappeared for five minutes, would your local commits disappear?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TRY • Clone the class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87078"/>
                </a:solidFill>
              </a:defRPr>
            </a:pPr>
            <a:r>
              <a:t>Inspect before you edit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766560" cy="429768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git clone https://github.com/RebekahZipp/GitHubCarpentries-Examples.git</a:t>
            </a:r>
            <a:br/>
            <a:r>
              <a:t>cd GitHubCarpentries-Examples</a:t>
            </a:r>
            <a:br/>
            <a:r>
              <a:t>pwd</a:t>
            </a:r>
            <a:br/>
            <a:r>
              <a:t>git rev-parse --show-toplevel</a:t>
            </a:r>
            <a:br/>
            <a:r>
              <a:t>git status</a:t>
            </a:r>
            <a:br/>
            <a:r>
              <a:t>git log --oneline</a:t>
            </a:r>
            <a:br/>
            <a:r>
              <a:t>git remote -v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325880"/>
            <a:ext cx="3886200" cy="118872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PREDICT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What will arrive on this computer?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697480"/>
            <a:ext cx="3886200" cy="118872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C95C56"/>
                </a:solidFill>
              </a:defRPr>
            </a:pPr>
            <a:r>
              <a:t>TALK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What happened before you arrived?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069080"/>
            <a:ext cx="3886200" cy="118872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2D8B8B"/>
                </a:solidFill>
              </a:defRPr>
            </a:pPr>
            <a:r>
              <a:t>MEMORY LINE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Clone gives a repository relationship, not just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Remotes are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29200" cy="274320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git remote -v</a:t>
            </a:r>
            <a:br/>
            <a:br/>
            <a:r>
              <a:t>git push origin main</a:t>
            </a:r>
            <a:br/>
            <a:r>
              <a:t>git pull origin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00200"/>
            <a:ext cx="502920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2D8B8B"/>
                </a:solidFill>
              </a:defRPr>
            </a:pPr>
            <a:r>
              <a:t>origin</a:t>
            </a:r>
          </a:p>
          <a:p>
            <a:pPr>
              <a:spcBef>
                <a:spcPts val="600"/>
              </a:spcBef>
              <a:defRPr sz="1700">
                <a:solidFill>
                  <a:srgbClr val="212529"/>
                </a:solidFill>
              </a:defRPr>
            </a:pPr>
            <a:r>
              <a:t>A conventional local nickname for a remote.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926080"/>
            <a:ext cx="502920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704A96"/>
                </a:solidFill>
              </a:defRPr>
            </a:pPr>
            <a:r>
              <a:t>COMMIT ≠ PUSH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Commit records here. Push shares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251960"/>
            <a:ext cx="502920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C95C56"/>
                </a:solidFill>
              </a:defRPr>
            </a:pPr>
            <a:r>
              <a:t>ASK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If I remove origin locally, did I delete GitHub?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BUILD • Move into your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3383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2D8B8B"/>
                </a:solidFill>
              </a:defRPr>
            </a:pPr>
            <a:r>
              <a:t>TRY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Class example</a:t>
            </a:r>
            <a:br/>
            <a:r>
              <a:t>Clone + investigate</a:t>
            </a:r>
            <a:br/>
            <a:r>
              <a:t>Safe local experiments</a:t>
            </a:r>
            <a:br/>
            <a:br/>
            <a:r>
              <a:t>Do not push to teaching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212080" cy="3383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704A96"/>
                </a:solidFill>
              </a:defRPr>
            </a:pPr>
            <a:r>
              <a:t>BUILD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Your or partner repository</a:t>
            </a:r>
            <a:br/>
            <a:r>
              <a:t>Make decisions</a:t>
            </a:r>
            <a:br/>
            <a:r>
              <a:t>Commit + push</a:t>
            </a:r>
            <a:br/>
            <a:r>
              <a:t>Collaborate</a:t>
            </a:r>
            <a:br/>
            <a:r>
              <a:t>Leave with an artifact.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1663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2D45"/>
                </a:solidFill>
              </a:defRPr>
            </a:pPr>
            <a:r>
              <a:t>PULL → CHANGE → INSPECT → CHOOSE → RECORD → REVIEW →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BREAK • 1:53–2:00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Seven minutes. Stop typing. Step away.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3840480"/>
            <a:ext cx="621792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E17C34"/>
                </a:solidFill>
              </a:defRPr>
            </a:pPr>
            <a:r>
              <a:t>HELPER PULSE</a:t>
            </a:r>
          </a:p>
          <a:p>
            <a:pPr>
              <a:spcBef>
                <a:spcPts val="600"/>
              </a:spcBef>
              <a:defRPr sz="1700">
                <a:solidFill>
                  <a:srgbClr val="212529"/>
                </a:solidFill>
              </a:defRPr>
            </a:pPr>
            <a:r>
              <a:t>What question are you hearing more than once?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First collaboration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87078"/>
                </a:solidFill>
              </a:defRPr>
            </a:pPr>
            <a:r>
              <a:t>CHANGE → INSPECT → CHOOSE → RECORD → REVIEW →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492240" cy="448056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git pull origin main</a:t>
            </a:r>
            <a:br/>
            <a:r>
              <a:t># edit</a:t>
            </a:r>
            <a:br/>
            <a:r>
              <a:t>git status</a:t>
            </a:r>
            <a:br/>
            <a:r>
              <a:t>git diff</a:t>
            </a:r>
            <a:br/>
            <a:r>
              <a:t>git add FILE</a:t>
            </a:r>
            <a:br/>
            <a:r>
              <a:t>git diff --staged</a:t>
            </a:r>
            <a:br/>
            <a:r>
              <a:t>git commit -m "Describe the change"</a:t>
            </a:r>
            <a:br/>
            <a:r>
              <a:t>git log --oneline</a:t>
            </a:r>
            <a:br/>
            <a:r>
              <a:t>git push origin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25880"/>
            <a:ext cx="416052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E17C34"/>
                </a:solidFill>
              </a:defRPr>
            </a:pPr>
            <a:r>
              <a:t>BEFORE git add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Does this belong in the next version?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51760"/>
            <a:ext cx="416052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704A96"/>
                </a:solidFill>
              </a:defRPr>
            </a:pPr>
            <a:r>
              <a:t>BEFORE commit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What decision are we preserving?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977639"/>
            <a:ext cx="416052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2D8B8B"/>
                </a:solidFill>
              </a:defRPr>
            </a:pPr>
            <a:r>
              <a:t>BEFORE push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Where is this commit now? Where is it going?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Repeat • Switch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87078"/>
                </a:solidFill>
              </a:defRPr>
            </a:pPr>
            <a:r>
              <a:t>First pass: follow. Second pass: recognize and explain.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9144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18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182D45"/>
                </a:solidFill>
              </a:defRPr>
            </a:pPr>
            <a:r>
              <a:t>PULL → CHANGE → INSPECT → CHOOSE → RECORD → REVIEW →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What is our next move, and why?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What state are you trying to change?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What evidence tells you that you are ready for the next step?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Which step feels easiest to skip?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Rejected push • Stop and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965960" cy="13258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704A96"/>
                </a:solidFill>
              </a:defRPr>
            </a:pPr>
            <a:r>
              <a:t>EXPECT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Push succeeds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417320"/>
            <a:ext cx="1965960" cy="13258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OBSERVE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Git rejects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17320"/>
            <a:ext cx="1965960" cy="13258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2D8B8B"/>
                </a:solidFill>
              </a:defRPr>
            </a:pPr>
            <a:r>
              <a:t>EXPLAIN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Remote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417320"/>
            <a:ext cx="1965960" cy="13258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48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48845C"/>
                </a:solidFill>
              </a:defRPr>
            </a:pPr>
            <a:r>
              <a:t>ACT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Bring in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417320"/>
            <a:ext cx="1965960" cy="13258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18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182D45"/>
                </a:solidFill>
              </a:defRPr>
            </a:pPr>
            <a:r>
              <a:t>VERIFY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Inspect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383280"/>
            <a:ext cx="8046720" cy="128016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C95C56"/>
                </a:solidFill>
              </a:defRPr>
            </a:pPr>
            <a:r>
              <a:t>SAFETY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A rejected push is not permission to force push.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4892040"/>
            <a:ext cx="8046720" cy="9144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2D8B8B"/>
                </a:solidFill>
              </a:defRPr>
            </a:pPr>
            <a:r>
              <a:t>TALK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Paste the exact non-sensitive rejection message in Teams.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Conflict • Git refuses to guess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572000" cy="274320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&lt;&lt;&lt;&lt;&lt;&lt;&lt; HEAD</a:t>
            </a:r>
            <a:br/>
            <a:r>
              <a:t>local version</a:t>
            </a:r>
            <a:br/>
            <a:r>
              <a:t>=======</a:t>
            </a:r>
            <a:br/>
            <a:r>
              <a:t>incoming version</a:t>
            </a:r>
            <a:br/>
            <a:r>
              <a:t>&gt;&gt;&gt;&gt;&gt;&gt;&gt; 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17320"/>
            <a:ext cx="548640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C95C56"/>
                </a:solidFill>
              </a:defRPr>
            </a:pPr>
            <a:r>
              <a:t>ASK</a:t>
            </a:r>
          </a:p>
          <a:p>
            <a:pPr>
              <a:spcBef>
                <a:spcPts val="600"/>
              </a:spcBef>
              <a:defRPr sz="1700">
                <a:solidFill>
                  <a:srgbClr val="212529"/>
                </a:solidFill>
              </a:defRPr>
            </a:pPr>
            <a:r>
              <a:t>Which version is correct?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697480"/>
            <a:ext cx="548640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704A96"/>
                </a:solidFill>
              </a:defRPr>
            </a:pPr>
            <a:r>
              <a:t>ANSWER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Git cannot know. A human decides intended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3977639"/>
            <a:ext cx="5486400" cy="160020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git add FILE</a:t>
            </a:r>
            <a:br/>
            <a:r>
              <a:t>git status</a:t>
            </a:r>
            <a:br/>
            <a:r>
              <a:t>git commit -m "Resolve conflicting changes"</a:t>
            </a:r>
            <a:br/>
            <a:r>
              <a:t>git push origin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709160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17C34"/>
                </a:solidFill>
              </a:defRPr>
            </a:pPr>
            <a:r>
              <a:t>CONFLICT ≠ DAMAGE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BREAK • 2:53–3:00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Seven minutes. Then: investigate, recover,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3840480"/>
            <a:ext cx="6492240" cy="11430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HELPER PULSE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Who is mid-conflict? What error deserves a whole-room reset?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History +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87078"/>
                </a:solidFill>
              </a:defRPr>
            </a:pPr>
            <a:r>
              <a:t>Recovery begins with the state you intend to keep.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852160" cy="411480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git log --oneline</a:t>
            </a:r>
            <a:br/>
            <a:r>
              <a:t>git show HEAD</a:t>
            </a:r>
            <a:br/>
            <a:r>
              <a:t>git diff HEAD~1</a:t>
            </a:r>
            <a:br/>
            <a:r>
              <a:t>git diff</a:t>
            </a:r>
            <a:br/>
            <a:br/>
            <a:r>
              <a:t># only after deciding to discard an uncommitted change:</a:t>
            </a:r>
            <a:br/>
            <a:r>
              <a:t>git restore FILE</a:t>
            </a:r>
            <a:br/>
            <a:r>
              <a:t>git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417320"/>
            <a:ext cx="438912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704A96"/>
                </a:solidFill>
              </a:defRPr>
            </a:pPr>
            <a:r>
              <a:t>HEAD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the current commit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697480"/>
            <a:ext cx="438912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COMMON MISTAKE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git log --online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3977639"/>
            <a:ext cx="438912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2D8B8B"/>
                </a:solidFill>
              </a:defRPr>
            </a:pPr>
            <a:r>
              <a:t>MEMORY LINE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Investigate before recovery.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TRACK → IGNORE → INVESTIGATE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29200" cy="274320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git status</a:t>
            </a:r>
            <a:br/>
            <a:r>
              <a:t>git status --ignored</a:t>
            </a:r>
            <a:br/>
            <a:r>
              <a:t>cat .gitignore</a:t>
            </a:r>
            <a:br/>
            <a:r>
              <a:t>git check-ignore -v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00200"/>
            <a:ext cx="493776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C95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C95C56"/>
                </a:solidFill>
              </a:defRPr>
            </a:pPr>
            <a:r>
              <a:t>ASK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Git noticed it. Does it belong in the durable record?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880360"/>
            <a:ext cx="493776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LITERAL RULE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*.png does not mean every image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160520"/>
            <a:ext cx="4937760" cy="1097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704A96"/>
                </a:solidFill>
              </a:defRPr>
            </a:pPr>
            <a:r>
              <a:t>BEFORE git add .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Do all these files belong in the same decision?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A repository needs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4884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18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182D45"/>
                </a:solidFill>
              </a:defRPr>
            </a:pPr>
            <a:r>
              <a:t>README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what / why / 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417320"/>
            <a:ext cx="214884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E17C34"/>
                </a:solidFill>
              </a:defRPr>
            </a:pPr>
            <a:r>
              <a:t>.gitignore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intentional exclusions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17320"/>
            <a:ext cx="214884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48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48845C"/>
                </a:solidFill>
              </a:defRPr>
            </a:pPr>
            <a:r>
              <a:t>LICENSE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reuse terms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417320"/>
            <a:ext cx="214884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704A96"/>
                </a:solidFill>
              </a:defRPr>
            </a:pPr>
            <a:r>
              <a:t>CITATION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attribution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417320"/>
            <a:ext cx="1965960" cy="18288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800" b="1">
                <a:solidFill>
                  <a:srgbClr val="2D8B8B"/>
                </a:solidFill>
              </a:defRPr>
            </a:pPr>
            <a:r>
              <a:t>NOTES</a:t>
            </a:r>
          </a:p>
          <a:p>
            <a:pPr>
              <a:spcBef>
                <a:spcPts val="600"/>
              </a:spcBef>
              <a:defRPr sz="1500">
                <a:solidFill>
                  <a:srgbClr val="212529"/>
                </a:solidFill>
              </a:defRPr>
            </a:pPr>
            <a:r>
              <a:t>decisions +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8404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VISIBLE ≠ PERMISSION TO REUSE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RECORDED ≠ CORRECT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DATA ≠ INTERPRETATION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HISTORY ≠ COMPLETE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Same Git states • different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87078"/>
                </a:solidFill>
              </a:defRPr>
            </a:pPr>
            <a:r>
              <a:t>RStudio / GitHub GUI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291840" cy="3383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18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182D45"/>
                </a:solidFill>
              </a:defRPr>
            </a:pPr>
            <a:r>
              <a:t>READ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What does the interface say?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08760"/>
            <a:ext cx="3291840" cy="3383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E17C34"/>
                </a:solidFill>
              </a:defRPr>
            </a:pPr>
            <a:r>
              <a:t>PREDICT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What will this button change?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508760"/>
            <a:ext cx="3291840" cy="338328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48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200" b="1">
                <a:solidFill>
                  <a:srgbClr val="48845C"/>
                </a:solidFill>
              </a:defRPr>
            </a:pPr>
            <a:r>
              <a:t>VERIFY</a:t>
            </a:r>
          </a:p>
          <a:p>
            <a:pPr>
              <a:spcBef>
                <a:spcPts val="600"/>
              </a:spcBef>
              <a:defRPr sz="1900">
                <a:solidFill>
                  <a:srgbClr val="212529"/>
                </a:solidFill>
              </a:defRPr>
            </a:pPr>
            <a:r>
              <a:t>How will we prove what happened?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2578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704A96"/>
                </a:solidFill>
              </a:defRPr>
            </a:pPr>
            <a:r>
              <a:t>The interface changes. The repository states do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Explain-back • make reasoning 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2000" b="1">
                <a:solidFill>
                  <a:srgbClr val="2D8B8B"/>
                </a:solidFill>
              </a:defRPr>
            </a:pPr>
            <a:r>
              <a:t>I expected ___ . I observed ___ . The evidence showed ___ . I did ___ . I verified it by ___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Partner A explains one repository decision or Git situation.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Partner B asks questions without taking the keyboard.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Switch.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Post one final takeaway or question in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Version control is not simply saving files.</a:t>
            </a:r>
          </a:p>
          <a:p>
            <a:pPr algn="ctr">
              <a:spcBef>
                <a:spcPts val="800"/>
              </a:spcBef>
              <a:defRPr sz="2300">
                <a:solidFill>
                  <a:srgbClr val="FFFFFF"/>
                </a:solidFill>
              </a:defRPr>
            </a:pPr>
            <a:r>
              <a:t>Observe change.</a:t>
            </a:r>
          </a:p>
          <a:p>
            <a:pPr algn="ctr">
              <a:spcBef>
                <a:spcPts val="800"/>
              </a:spcBef>
              <a:defRPr sz="2300">
                <a:solidFill>
                  <a:srgbClr val="FFFFFF"/>
                </a:solidFill>
              </a:defRPr>
            </a:pPr>
            <a:r>
              <a:t>Decide what it means.</a:t>
            </a:r>
          </a:p>
          <a:p>
            <a:pPr algn="ctr">
              <a:spcBef>
                <a:spcPts val="800"/>
              </a:spcBef>
              <a:defRPr sz="2300">
                <a:solidFill>
                  <a:srgbClr val="FFFFFF"/>
                </a:solidFill>
              </a:defRPr>
            </a:pPr>
            <a:r>
              <a:t>Preserve the decision.</a:t>
            </a:r>
          </a:p>
          <a:p>
            <a:pPr algn="ctr">
              <a:spcBef>
                <a:spcPts val="800"/>
              </a:spcBef>
              <a:defRPr sz="2300">
                <a:solidFill>
                  <a:srgbClr val="FFFFFF"/>
                </a:solidFill>
              </a:defRPr>
            </a:pPr>
            <a:r>
              <a:t>Verify the record.</a:t>
            </a:r>
          </a:p>
          <a:p>
            <a:pPr algn="ctr">
              <a:spcBef>
                <a:spcPts val="800"/>
              </a:spcBef>
              <a:defRPr sz="2300">
                <a:solidFill>
                  <a:srgbClr val="FFFFFF"/>
                </a:solidFill>
              </a:defRPr>
            </a:pPr>
            <a:r>
              <a:t>Share it for recovery, reuse, and collaboration.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4983480"/>
            <a:ext cx="8321040" cy="91440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900" b="1">
                <a:solidFill>
                  <a:srgbClr val="E17C34"/>
                </a:solidFill>
              </a:defRPr>
            </a:pPr>
            <a:r>
              <a:t>THE COMMANDS MAY CHANGE. THE REASONING SHOULD BECOME FAMILIAR.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Whole-class cheat sheet • keep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6675120" cy="4480560"/>
          </a:xfrm>
          <a:prstGeom prst="roundRect">
            <a:avLst/>
          </a:prstGeom>
          <a:solidFill>
            <a:srgbClr val="1F2328"/>
          </a:solidFill>
          <a:ln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t>ORIENT                         INSPECT</a:t>
            </a:r>
            <a:br/>
            <a:r>
              <a:t>pwd                            git diff</a:t>
            </a:r>
            <a:br/>
            <a:r>
              <a:t>git rev-parse --show-toplevel  git diff --staged</a:t>
            </a:r>
            <a:br/>
            <a:r>
              <a:t>git status                     git log --oneline</a:t>
            </a:r>
            <a:br/>
            <a:r>
              <a:t>                               git show HEAD</a:t>
            </a:r>
            <a:br/>
            <a:br/>
            <a:r>
              <a:t>CONNECT                        SHARE</a:t>
            </a:r>
            <a:br/>
            <a:r>
              <a:t>git remote -v                  git pull origin main</a:t>
            </a:r>
            <a:br/>
            <a:r>
              <a:t>                               git push origin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325880"/>
            <a:ext cx="3840480" cy="12344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7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04A96"/>
                </a:solidFill>
              </a:defRPr>
            </a:pPr>
            <a:r>
              <a:t>NORMAL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CHANGE → INSPECT → CHOOSE → RECORD → REVIEW → SHARE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2788920"/>
            <a:ext cx="3840480" cy="12344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E1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17C34"/>
                </a:solidFill>
              </a:defRPr>
            </a:pPr>
            <a:r>
              <a:t>SURPRISED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EXPECT → OBSERVE → EXPLAIN → TEST → ACT → 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251960"/>
            <a:ext cx="3840480" cy="123444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2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700" b="1">
                <a:solidFill>
                  <a:srgbClr val="2D8B8B"/>
                </a:solidFill>
              </a:defRPr>
            </a:pPr>
            <a:r>
              <a:t>FILES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TRACK → IGNORE → INVESTIGATE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5"/>
                </a:solidFill>
              </a:defRPr>
            </a:pPr>
            <a:r>
              <a:t>Learning rubric • 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FOLLOW — I can reproduce the demonstrated move.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RECOGNIZE — I can identify the state I am in.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PREDICT — I can say what I expect before acting.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EXPLAIN — I can use evidence to explain what happened.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ACT — I can choose the next move with less prompting.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t>HELP — I can help someone else reason without taking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623560"/>
            <a:ext cx="8503920" cy="594360"/>
          </a:xfrm>
          <a:prstGeom prst="roundRect">
            <a:avLst/>
          </a:prstGeom>
          <a:solidFill>
            <a:srgbClr val="F5F7F9"/>
          </a:solidFill>
          <a:ln w="25400">
            <a:solidFill>
              <a:srgbClr val="48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48845C"/>
                </a:solidFill>
              </a:defRPr>
            </a:pPr>
            <a:r>
              <a:t>Instructor check: WHY • WHAT • HOW • VERIFY •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078"/>
                </a:solidFill>
              </a:defRPr>
            </a:pPr>
            <a:r>
              <a:t>Git &amp; GitHub Workshop • Oct. 8 • Digital Scholarship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DF5C178C24D5428533144D649CC9A7" ma:contentTypeVersion="12" ma:contentTypeDescription="Create a new document." ma:contentTypeScope="" ma:versionID="008b38628f76ec7f346a9d70116367cf">
  <xsd:schema xmlns:xsd="http://www.w3.org/2001/XMLSchema" xmlns:xs="http://www.w3.org/2001/XMLSchema" xmlns:p="http://schemas.microsoft.com/office/2006/metadata/properties" xmlns:ns1="http://schemas.microsoft.com/sharepoint/v3" xmlns:ns2="dd0c629c-4982-44fe-a8b5-56d8b0b0f34a" xmlns:ns3="9902ae8d-1275-4664-9854-19d4c3254084" targetNamespace="http://schemas.microsoft.com/office/2006/metadata/properties" ma:root="true" ma:fieldsID="4f58dcb412fd0fe410dc3fa510bc2d02" ns1:_="" ns2:_="" ns3:_="">
    <xsd:import namespace="http://schemas.microsoft.com/sharepoint/v3"/>
    <xsd:import namespace="dd0c629c-4982-44fe-a8b5-56d8b0b0f34a"/>
    <xsd:import namespace="9902ae8d-1275-4664-9854-19d4c32540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ReportDescription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eportDescription" ma:index="11" nillable="true" ma:displayName="Report Description" ma:description="A description of the contents of the report" ma:internalName="Report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0c629c-4982-44fe-a8b5-56d8b0b0f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abce5ee-ca9a-4d2a-a8e0-de52926351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02ae8d-1275-4664-9854-19d4c3254084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e2fe26c-a7c7-4e09-be47-766a72acbba3}" ma:internalName="TaxCatchAll" ma:showField="CatchAllData" ma:web="9902ae8d-1275-4664-9854-19d4c32540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902ae8d-1275-4664-9854-19d4c3254084" xsi:nil="true"/>
    <lcf76f155ced4ddcb4097134ff3c332f xmlns="dd0c629c-4982-44fe-a8b5-56d8b0b0f34a">
      <Terms xmlns="http://schemas.microsoft.com/office/infopath/2007/PartnerControls"/>
    </lcf76f155ced4ddcb4097134ff3c332f>
    <ReportDescription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A7A1F3-DBD0-48AD-A64E-AE6EB3AD4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d0c629c-4982-44fe-a8b5-56d8b0b0f34a"/>
    <ds:schemaRef ds:uri="9902ae8d-1275-4664-9854-19d4c32540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56046B-9E35-461E-A5CB-48A1621A5B2A}">
  <ds:schemaRefs>
    <ds:schemaRef ds:uri="http://schemas.microsoft.com/office/2006/metadata/properties"/>
    <ds:schemaRef ds:uri="http://schemas.microsoft.com/office/infopath/2007/PartnerControls"/>
    <ds:schemaRef ds:uri="9902ae8d-1275-4664-9854-19d4c3254084"/>
    <ds:schemaRef ds:uri="dd0c629c-4982-44fe-a8b5-56d8b0b0f34a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15DB3DB7-50FF-4215-ABD2-E1645165BF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26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2026-10-08T17:10:31Z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0x010100BCDF5C178C24D5428533144D649CC9A7</vt:lpwstr>
  </property>
</Properties>
</file>